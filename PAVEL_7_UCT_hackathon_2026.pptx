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5" r:id="rId6"/>
    <p:sldId id="264" r:id="rId7"/>
    <p:sldId id="263" r:id="rId8"/>
    <p:sldId id="260" r:id="rId9"/>
    <p:sldId id="261" r:id="rId10"/>
    <p:sldId id="262" r:id="rId11"/>
  </p:sldIdLst>
  <p:sldSz cx="9144000" cy="5143500" type="screen16x9"/>
  <p:notesSz cx="6858000" cy="9144000"/>
  <p:embeddedFontLst>
    <p:embeddedFont>
      <p:font typeface="Helvetica Neue" panose="020B0604020202020204" charset="0"/>
      <p:regular r:id="rId13"/>
      <p:bold r:id="rId14"/>
      <p:italic r:id="rId15"/>
      <p:boldItalic r:id="rId16"/>
    </p:embeddedFont>
    <p:embeddedFont>
      <p:font typeface="Libre Franklin" pitchFamily="2" charset="0"/>
      <p:regular r:id="rId17"/>
      <p:bold r:id="rId18"/>
      <p:italic r:id="rId19"/>
      <p:boldItalic r:id="rId20"/>
    </p:embeddedFont>
    <p:embeddedFont>
      <p:font typeface="Titillium Web" panose="00000500000000000000" pitchFamily="2" charset="0"/>
      <p:regular r:id="rId21"/>
      <p:bold r:id="rId22"/>
      <p:italic r:id="rId23"/>
      <p:boldItalic r:id="rId24"/>
    </p:embeddedFont>
    <p:embeddedFont>
      <p:font typeface="Titillium Web Light" panose="00000400000000000000" pitchFamily="2" charset="0"/>
      <p:regular r:id="rId25"/>
      <p:italic r:id="rId26"/>
    </p:embeddedFont>
    <p:embeddedFont>
      <p:font typeface="Titillium Web SemiBold" panose="000007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1E5964-C148-F65E-DEAE-672214AFE4AC}" v="1611" dt="2026-06-26T16:26:15.8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32" name="Google Shape;3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" name="Google Shape;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56" name="Google Shape;5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>
          <a:extLst>
            <a:ext uri="{FF2B5EF4-FFF2-40B4-BE49-F238E27FC236}">
              <a16:creationId xmlns:a16="http://schemas.microsoft.com/office/drawing/2014/main" id="{7284EE27-A499-6FD6-A26E-8A433CC36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>
            <a:extLst>
              <a:ext uri="{FF2B5EF4-FFF2-40B4-BE49-F238E27FC236}">
                <a16:creationId xmlns:a16="http://schemas.microsoft.com/office/drawing/2014/main" id="{88B99CEA-BF36-DB07-6CF1-E2F13AA539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56" name="Google Shape;56;p4:notes">
            <a:extLst>
              <a:ext uri="{FF2B5EF4-FFF2-40B4-BE49-F238E27FC236}">
                <a16:creationId xmlns:a16="http://schemas.microsoft.com/office/drawing/2014/main" id="{209112B2-2E35-1CB3-F270-35D19F899A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03434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>
          <a:extLst>
            <a:ext uri="{FF2B5EF4-FFF2-40B4-BE49-F238E27FC236}">
              <a16:creationId xmlns:a16="http://schemas.microsoft.com/office/drawing/2014/main" id="{03A032A4-D30D-BE5B-CB22-A639829E6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>
            <a:extLst>
              <a:ext uri="{FF2B5EF4-FFF2-40B4-BE49-F238E27FC236}">
                <a16:creationId xmlns:a16="http://schemas.microsoft.com/office/drawing/2014/main" id="{808671E1-9BF6-5E20-7D4D-F11CD97058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" name="Google Shape;56;p4:notes">
            <a:extLst>
              <a:ext uri="{FF2B5EF4-FFF2-40B4-BE49-F238E27FC236}">
                <a16:creationId xmlns:a16="http://schemas.microsoft.com/office/drawing/2014/main" id="{3A5992F0-DFC0-DF17-9B84-C803401CE6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90677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>
          <a:extLst>
            <a:ext uri="{FF2B5EF4-FFF2-40B4-BE49-F238E27FC236}">
              <a16:creationId xmlns:a16="http://schemas.microsoft.com/office/drawing/2014/main" id="{CE19343E-B563-0014-082C-4BB8BF86F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>
            <a:extLst>
              <a:ext uri="{FF2B5EF4-FFF2-40B4-BE49-F238E27FC236}">
                <a16:creationId xmlns:a16="http://schemas.microsoft.com/office/drawing/2014/main" id="{BEF3ED35-4F9A-8C5E-E025-076787552B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" name="Google Shape;56;p4:notes">
            <a:extLst>
              <a:ext uri="{FF2B5EF4-FFF2-40B4-BE49-F238E27FC236}">
                <a16:creationId xmlns:a16="http://schemas.microsoft.com/office/drawing/2014/main" id="{DE785049-9C76-474F-3965-D960FC7DE9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373474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4" name="Google Shape;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2" name="Google Shape;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0" name="Google Shape;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dark (phone)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6000" y="325382"/>
            <a:ext cx="1982574" cy="48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 title="image-14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68225" y="691999"/>
            <a:ext cx="3759524" cy="3759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light texture A">
  <p:cSld name="CUSTOM_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32726" y="188875"/>
            <a:ext cx="1406326" cy="34325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0" y="4810691"/>
            <a:ext cx="9144000" cy="353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5721359" y="4887439"/>
            <a:ext cx="32364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tillium Web Light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@interledger  </a:t>
            </a:r>
            <a:r>
              <a:rPr lang="en" sz="1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#OpenPayments</a:t>
            </a:r>
            <a:endParaRPr sz="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1399416" y="4880841"/>
            <a:ext cx="8442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tillium Web Light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#</a:t>
            </a:r>
            <a:r>
              <a:rPr lang="en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ILPHacks</a:t>
            </a:r>
            <a:endParaRPr sz="1400" b="1" i="0" u="none" strike="noStrike" cap="non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20" name="Google Shape;20;p3" title="image-1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90700" y="4173187"/>
            <a:ext cx="1308725" cy="984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dark (phone) 1">
  <p:cSld name="TITLE_AND_BODY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" name="Google Shape;2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6000" y="325382"/>
            <a:ext cx="1982574" cy="48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dark gradient">
  <p:cSld name="CUSTOM_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32726" y="188875"/>
            <a:ext cx="1406326" cy="343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no background B">
  <p:cSld name="CUSTOM_4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32749" y="188875"/>
            <a:ext cx="1406326" cy="3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tillium Web"/>
              <a:buNone/>
              <a:defRPr sz="2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tillium Web"/>
              <a:buChar char="●"/>
              <a:defRPr sz="18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○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■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●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○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■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●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○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■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/>
          <p:nvPr/>
        </p:nvSpPr>
        <p:spPr>
          <a:xfrm>
            <a:off x="6470275" y="2556825"/>
            <a:ext cx="1463100" cy="219600"/>
          </a:xfrm>
          <a:prstGeom prst="rect">
            <a:avLst/>
          </a:prstGeom>
          <a:solidFill>
            <a:srgbClr val="0F04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200" b="1" i="0" u="none" strike="noStrike" cap="none">
                <a:solidFill>
                  <a:srgbClr val="E69138"/>
                </a:solidFill>
                <a:latin typeface="Titillium Web"/>
                <a:ea typeface="Titillium Web"/>
                <a:cs typeface="Titillium Web"/>
                <a:sym typeface="Titillium Web"/>
              </a:rPr>
              <a:t>OPEN PAYMENTS</a:t>
            </a:r>
            <a:endParaRPr sz="1200" b="1" i="0" u="none" strike="noStrike" cap="none">
              <a:solidFill>
                <a:srgbClr val="E69138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5" name="Google Shape;35;p7"/>
          <p:cNvSpPr txBox="1"/>
          <p:nvPr/>
        </p:nvSpPr>
        <p:spPr>
          <a:xfrm>
            <a:off x="329184" y="1719072"/>
            <a:ext cx="4958871" cy="195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SzPts val="1100"/>
            </a:pPr>
            <a:r>
              <a:rPr lang="en" sz="3500" b="1" dirty="0">
                <a:solidFill>
                  <a:srgbClr val="EEFF41"/>
                </a:solidFill>
                <a:latin typeface="Titillium Web"/>
                <a:ea typeface="Titillium Web"/>
                <a:cs typeface="Titillium Web"/>
                <a:sym typeface="Titillium Web"/>
              </a:rPr>
              <a:t>PAVEL_7</a:t>
            </a:r>
            <a:endParaRPr lang="en-US" sz="3300" b="1" dirty="0">
              <a:solidFill>
                <a:srgbClr val="00FFFF"/>
              </a:solidFill>
              <a:latin typeface="Titillium Web"/>
              <a:ea typeface="Titillium Web"/>
              <a:cs typeface="Titillium Web"/>
              <a:sym typeface="Titillium Web SemiBold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rPr lang="en" sz="3000" b="0" i="0" u="none" strike="noStrike" cap="none" dirty="0">
                <a:solidFill>
                  <a:srgbClr val="00FFFF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Hackathon 2026</a:t>
            </a:r>
            <a:endParaRPr lang="en-US" sz="3300" b="1" i="0" u="none" strike="noStrike" cap="none" dirty="0">
              <a:solidFill>
                <a:srgbClr val="00FFFF"/>
              </a:solidFill>
              <a:latin typeface="Titillium Web"/>
              <a:ea typeface="Titillium Web SemiBold"/>
              <a:cs typeface="Titillium Web SemiBold"/>
            </a:endParaRPr>
          </a:p>
          <a:p>
            <a:pPr>
              <a:buSzPts val="1100"/>
            </a:pPr>
            <a:endParaRPr lang="en" sz="3000" dirty="0">
              <a:solidFill>
                <a:srgbClr val="00FFFF"/>
              </a:solidFill>
              <a:latin typeface="Titillium Web SemiBold"/>
              <a:ea typeface="Titillium Web"/>
              <a:cs typeface="Titillium Web"/>
            </a:endParaRPr>
          </a:p>
          <a:p>
            <a:pPr>
              <a:buSzPts val="1100"/>
            </a:pPr>
            <a:r>
              <a:rPr lang="en" sz="2000" dirty="0">
                <a:solidFill>
                  <a:srgbClr val="00FFFF"/>
                </a:solidFill>
                <a:latin typeface="Titillium Web SemiBold"/>
                <a:ea typeface="Titillium Web"/>
                <a:cs typeface="Titillium Web"/>
              </a:rPr>
              <a:t>"Pay As You Use"</a:t>
            </a:r>
          </a:p>
        </p:txBody>
      </p:sp>
      <p:pic>
        <p:nvPicPr>
          <p:cNvPr id="36" name="Google Shape;36;p7" title="0048_FIH_Logo-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24150" y="380476"/>
            <a:ext cx="1783537" cy="429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lang="en" sz="3900" b="1" i="0" u="none" strike="noStrike" cap="none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Meet the team</a:t>
            </a:r>
            <a:endParaRPr sz="500" b="0" i="0" u="none" strike="noStrike" cap="none">
              <a:solidFill>
                <a:srgbClr val="00E2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8"/>
          <p:cNvSpPr txBox="1"/>
          <p:nvPr/>
        </p:nvSpPr>
        <p:spPr>
          <a:xfrm>
            <a:off x="405300" y="2029883"/>
            <a:ext cx="4620900" cy="2137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600" b="1" i="0" u="none" strike="noStrike" cap="none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lang="en" sz="1600" b="1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PavelPayments</a:t>
            </a:r>
            <a:endParaRPr lang="en-US" sz="1600" b="1" i="0" u="none" strike="noStrike" cap="none" dirty="0" err="1">
              <a:solidFill>
                <a:schemeClr val="lt1"/>
              </a:solidFill>
              <a:latin typeface="Titillium Web"/>
              <a:ea typeface="Titillium Web"/>
              <a:cs typeface="Titillium Web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indent="-330200"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 dirty="0" err="1">
                <a:solidFill>
                  <a:schemeClr val="lt1"/>
                </a:solidFill>
                <a:latin typeface="Titillium Web"/>
                <a:ea typeface="Titillium Web"/>
                <a:cs typeface="Titillium Web"/>
              </a:rPr>
              <a:t>Vhutali</a:t>
            </a:r>
            <a:r>
              <a:rPr lang="en"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</a:rPr>
              <a:t> </a:t>
            </a:r>
            <a:r>
              <a:rPr lang="en" sz="1600" dirty="0" err="1">
                <a:solidFill>
                  <a:schemeClr val="lt1"/>
                </a:solidFill>
                <a:latin typeface="Titillium Web"/>
                <a:ea typeface="Titillium Web"/>
                <a:cs typeface="Titillium Web"/>
              </a:rPr>
              <a:t>Tsanwani</a:t>
            </a:r>
            <a:endParaRPr lang="en" sz="1600" b="0" i="0" u="none" strike="noStrike" cap="none" dirty="0">
              <a:solidFill>
                <a:schemeClr val="lt1"/>
              </a:solidFill>
              <a:latin typeface="Titillium Web"/>
              <a:ea typeface="Titillium Web"/>
              <a:cs typeface="Titillium Web"/>
            </a:endParaRPr>
          </a:p>
          <a:p>
            <a:pPr marL="457200" indent="-330200"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</a:rPr>
              <a:t>Erico Mutonkole</a:t>
            </a:r>
            <a:endParaRPr lang="en" sz="1600" b="0" i="0" u="none" strike="noStrike" cap="none" dirty="0">
              <a:solidFill>
                <a:schemeClr val="lt1"/>
              </a:solidFill>
              <a:latin typeface="Titillium Web"/>
              <a:ea typeface="Titillium Web"/>
              <a:cs typeface="Titillium Web"/>
            </a:endParaRPr>
          </a:p>
          <a:p>
            <a:pPr marL="457200" indent="-330200"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</a:rPr>
              <a:t>Lisakhanya Tshokolo</a:t>
            </a:r>
            <a:endParaRPr lang="en" sz="1600" b="0" i="0" u="none" strike="noStrike" cap="none" dirty="0">
              <a:solidFill>
                <a:schemeClr val="lt1"/>
              </a:solidFill>
              <a:latin typeface="Titillium Web"/>
              <a:ea typeface="Titillium Web"/>
              <a:cs typeface="Titillium Web"/>
            </a:endParaRPr>
          </a:p>
          <a:p>
            <a:pPr marL="457200" indent="-330200"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</a:rPr>
              <a:t>Amanda Msutu</a:t>
            </a:r>
            <a:endParaRPr lang="en" sz="1600" b="0" i="0" u="none" strike="noStrike" cap="none" dirty="0">
              <a:solidFill>
                <a:schemeClr val="lt1"/>
              </a:solidFill>
              <a:latin typeface="Titillium Web"/>
              <a:ea typeface="Titillium Web"/>
              <a:cs typeface="Titillium Web"/>
            </a:endParaRPr>
          </a:p>
          <a:p>
            <a:pPr marL="457200" indent="-330200"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</a:rPr>
              <a:t>Noxolo Ngubo</a:t>
            </a:r>
          </a:p>
          <a:p>
            <a:pPr marL="457200" indent="-330200"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</a:rPr>
              <a:t>Thabiso </a:t>
            </a:r>
            <a:r>
              <a:rPr lang="en" sz="1600" dirty="0" err="1">
                <a:solidFill>
                  <a:schemeClr val="lt1"/>
                </a:solidFill>
                <a:latin typeface="Titillium Web"/>
                <a:ea typeface="Titillium Web"/>
                <a:cs typeface="Titillium Web"/>
              </a:rPr>
              <a:t>Moropane</a:t>
            </a:r>
            <a:r>
              <a:rPr lang="en"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</a:rPr>
              <a:t> </a:t>
            </a:r>
          </a:p>
          <a:p>
            <a:pPr marL="457200" indent="-330200"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 dirty="0" err="1">
                <a:solidFill>
                  <a:schemeClr val="lt1"/>
                </a:solidFill>
                <a:latin typeface="Titillium Web"/>
                <a:ea typeface="Titillium Web"/>
                <a:cs typeface="Titillium Web"/>
              </a:rPr>
              <a:t>Thembalethu</a:t>
            </a:r>
            <a:r>
              <a:rPr lang="en"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</a:rPr>
              <a:t> Sambo</a:t>
            </a:r>
          </a:p>
        </p:txBody>
      </p:sp>
      <p:cxnSp>
        <p:nvCxnSpPr>
          <p:cNvPr id="43" name="Google Shape;43;p8"/>
          <p:cNvCxnSpPr/>
          <p:nvPr/>
        </p:nvCxnSpPr>
        <p:spPr>
          <a:xfrm>
            <a:off x="510576" y="1985056"/>
            <a:ext cx="4791600" cy="0"/>
          </a:xfrm>
          <a:prstGeom prst="straightConnector1">
            <a:avLst/>
          </a:prstGeom>
          <a:noFill/>
          <a:ln w="9525" cap="flat" cmpd="sng">
            <a:solidFill>
              <a:srgbClr val="00E296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4" name="Google Shape;44;p8"/>
          <p:cNvSpPr/>
          <p:nvPr/>
        </p:nvSpPr>
        <p:spPr>
          <a:xfrm>
            <a:off x="5765251" y="1484400"/>
            <a:ext cx="2828700" cy="2785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 dirty="0">
              <a:solidFill>
                <a:srgbClr val="37415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45" name="Google Shape;45;p8" title="0048_FIH_Logo-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7EA6B6-77F5-1C45-4F64-C015E8E165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80" r="21981"/>
          <a:stretch>
            <a:fillRect/>
          </a:stretch>
        </p:blipFill>
        <p:spPr>
          <a:xfrm>
            <a:off x="5387340" y="1226847"/>
            <a:ext cx="3510671" cy="31622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lang="en" sz="3900" b="1" i="0" u="none" strike="noStrike" cap="none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Problem statement</a:t>
            </a:r>
            <a:endParaRPr sz="500" b="0" i="0" u="none" strike="noStrike" cap="none">
              <a:solidFill>
                <a:srgbClr val="00E2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9"/>
          <p:cNvSpPr txBox="1"/>
          <p:nvPr/>
        </p:nvSpPr>
        <p:spPr>
          <a:xfrm>
            <a:off x="388971" y="2040768"/>
            <a:ext cx="6885128" cy="19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Problem: </a:t>
            </a:r>
            <a:r>
              <a:rPr lang="en-US" dirty="0">
                <a:solidFill>
                  <a:schemeClr val="bg1"/>
                </a:solidFill>
              </a:rPr>
              <a:t>Traditional subscription models charge fixed fees regardless of actual usage.</a:t>
            </a:r>
          </a:p>
          <a:p>
            <a:pPr marL="285750" indent="-285750" algn="just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  <a:ea typeface="Titillium Web"/>
            </a:endParaRPr>
          </a:p>
          <a:p>
            <a:pPr marL="285750" indent="-285750" algn="just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ea typeface="Titillium Web"/>
              </a:rPr>
              <a:t>Why tackle this problem: </a:t>
            </a:r>
            <a:r>
              <a:rPr lang="en-US" dirty="0">
                <a:solidFill>
                  <a:schemeClr val="bg1"/>
                </a:solidFill>
                <a:ea typeface="Titillium Web"/>
              </a:rPr>
              <a:t>PavelPayments aims to reduce subscription waste, create financial inclusion, promote transparent billing, and increased accessibility.</a:t>
            </a:r>
          </a:p>
        </p:txBody>
      </p:sp>
      <p:cxnSp>
        <p:nvCxnSpPr>
          <p:cNvPr id="52" name="Google Shape;52;p9"/>
          <p:cNvCxnSpPr/>
          <p:nvPr/>
        </p:nvCxnSpPr>
        <p:spPr>
          <a:xfrm>
            <a:off x="510576" y="1985056"/>
            <a:ext cx="5456100" cy="0"/>
          </a:xfrm>
          <a:prstGeom prst="straightConnector1">
            <a:avLst/>
          </a:prstGeom>
          <a:noFill/>
          <a:ln w="9525" cap="flat" cmpd="sng">
            <a:solidFill>
              <a:srgbClr val="00E296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53" name="Google Shape;53;p9" title="0048_FIH_Logo-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/>
        </p:nvSpPr>
        <p:spPr>
          <a:xfrm>
            <a:off x="2095551" y="368641"/>
            <a:ext cx="4620900" cy="647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lang="en" sz="3900" b="1" dirty="0">
                <a:solidFill>
                  <a:srgbClr val="00E296"/>
                </a:solidFill>
                <a:latin typeface="Titillium Web"/>
                <a:sym typeface="Titillium Web"/>
              </a:rPr>
              <a:t>GYM Solution</a:t>
            </a:r>
            <a:endParaRPr sz="500" b="0" i="0" u="none" strike="noStrike" cap="none" dirty="0">
              <a:solidFill>
                <a:srgbClr val="00E2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" name="Google Shape;60;p10"/>
          <p:cNvCxnSpPr>
            <a:cxnSpLocks/>
          </p:cNvCxnSpPr>
          <p:nvPr/>
        </p:nvCxnSpPr>
        <p:spPr>
          <a:xfrm>
            <a:off x="349420" y="990615"/>
            <a:ext cx="8223078" cy="0"/>
          </a:xfrm>
          <a:prstGeom prst="straightConnector1">
            <a:avLst/>
          </a:prstGeom>
          <a:noFill/>
          <a:ln w="9525" cap="flat" cmpd="sng">
            <a:solidFill>
              <a:srgbClr val="00E296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61" name="Google Shape;61;p10" title="0048_FIH_Logo-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DBD9C1-6C26-3254-5EDC-5B3C6CDBA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940" y="1222196"/>
            <a:ext cx="7420542" cy="329286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B0157CEB-6F99-3F9B-D354-07FF65C2D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>
            <a:extLst>
              <a:ext uri="{FF2B5EF4-FFF2-40B4-BE49-F238E27FC236}">
                <a16:creationId xmlns:a16="http://schemas.microsoft.com/office/drawing/2014/main" id="{BFACD348-5A68-9A51-0D4C-B08352746DB2}"/>
              </a:ext>
            </a:extLst>
          </p:cNvPr>
          <p:cNvSpPr txBox="1"/>
          <p:nvPr/>
        </p:nvSpPr>
        <p:spPr>
          <a:xfrm>
            <a:off x="2095551" y="368641"/>
            <a:ext cx="4620900" cy="647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lang="en" sz="3900" b="1" dirty="0">
                <a:solidFill>
                  <a:srgbClr val="00E296"/>
                </a:solidFill>
                <a:latin typeface="Titillium Web"/>
                <a:sym typeface="Titillium Web"/>
              </a:rPr>
              <a:t>Streaming Solution</a:t>
            </a:r>
            <a:endParaRPr sz="500" b="0" i="0" u="none" strike="noStrike" cap="none" dirty="0">
              <a:solidFill>
                <a:srgbClr val="00E2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" name="Google Shape;60;p10">
            <a:extLst>
              <a:ext uri="{FF2B5EF4-FFF2-40B4-BE49-F238E27FC236}">
                <a16:creationId xmlns:a16="http://schemas.microsoft.com/office/drawing/2014/main" id="{A769BE32-7354-9B3A-8178-243828166144}"/>
              </a:ext>
            </a:extLst>
          </p:cNvPr>
          <p:cNvCxnSpPr>
            <a:cxnSpLocks/>
          </p:cNvCxnSpPr>
          <p:nvPr/>
        </p:nvCxnSpPr>
        <p:spPr>
          <a:xfrm>
            <a:off x="349420" y="990615"/>
            <a:ext cx="8223078" cy="0"/>
          </a:xfrm>
          <a:prstGeom prst="straightConnector1">
            <a:avLst/>
          </a:prstGeom>
          <a:noFill/>
          <a:ln w="9525" cap="flat" cmpd="sng">
            <a:solidFill>
              <a:srgbClr val="00E296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61" name="Google Shape;61;p10" title="0048_FIH_Logo-White.png">
            <a:extLst>
              <a:ext uri="{FF2B5EF4-FFF2-40B4-BE49-F238E27FC236}">
                <a16:creationId xmlns:a16="http://schemas.microsoft.com/office/drawing/2014/main" id="{B8491E6F-5364-4828-3985-C4ECB239B5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CD8EB45-9CB3-31AD-08ED-B5D10E602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2" y="1156014"/>
            <a:ext cx="9040815" cy="349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9450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90F2F238-2765-EA10-CE4B-274AAF0B2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>
            <a:extLst>
              <a:ext uri="{FF2B5EF4-FFF2-40B4-BE49-F238E27FC236}">
                <a16:creationId xmlns:a16="http://schemas.microsoft.com/office/drawing/2014/main" id="{3387D266-BAE4-1FEE-D11C-07672647EDB9}"/>
              </a:ext>
            </a:extLst>
          </p:cNvPr>
          <p:cNvSpPr txBox="1"/>
          <p:nvPr/>
        </p:nvSpPr>
        <p:spPr>
          <a:xfrm>
            <a:off x="261755" y="629400"/>
            <a:ext cx="8741141" cy="38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" sz="1600" b="1" dirty="0">
              <a:solidFill>
                <a:schemeClr val="lt1"/>
              </a:solidFill>
            </a:endParaRPr>
          </a:p>
          <a:p>
            <a:pPr>
              <a:buClr>
                <a:schemeClr val="bg1"/>
              </a:buClr>
            </a:pPr>
            <a:r>
              <a:rPr lang="en" sz="1600" b="1" dirty="0">
                <a:solidFill>
                  <a:schemeClr val="lt1"/>
                </a:solidFill>
              </a:rPr>
              <a:t>Technology Stack</a:t>
            </a:r>
          </a:p>
          <a:p>
            <a:pPr>
              <a:buClr>
                <a:schemeClr val="bg1"/>
              </a:buClr>
            </a:pPr>
            <a:endParaRPr lang="en-US" sz="1600" dirty="0"/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lt1"/>
                </a:solidFill>
              </a:rPr>
              <a:t>Frontend: React.js</a:t>
            </a:r>
            <a:endParaRPr lang="en" sz="1600" dirty="0"/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lt1"/>
                </a:solidFill>
              </a:rPr>
              <a:t>Backend: Node.js + TypeScript </a:t>
            </a:r>
            <a:endParaRPr lang="en" sz="1600" dirty="0"/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lt1"/>
                </a:solidFill>
              </a:rPr>
              <a:t>Payments: Interledger Open Payments &amp; GNAP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lt1"/>
                </a:solidFill>
              </a:rPr>
              <a:t>Database: PostgreSQL </a:t>
            </a:r>
            <a:endParaRPr lang="en" sz="1600" dirty="0"/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lt1"/>
                </a:solidFill>
              </a:rPr>
              <a:t>Cache: Redis </a:t>
            </a:r>
          </a:p>
          <a:p>
            <a:endParaRPr lang="en" sz="1600" b="1" dirty="0">
              <a:solidFill>
                <a:schemeClr val="lt1"/>
              </a:solidFill>
            </a:endParaRPr>
          </a:p>
          <a:p>
            <a:pPr marL="285750" marR="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endParaRPr lang="en" sz="1600" i="0" u="none" strike="noStrike" cap="none" dirty="0">
              <a:solidFill>
                <a:schemeClr val="lt1"/>
              </a:solidFill>
              <a:ea typeface="Titillium Web"/>
            </a:endParaRPr>
          </a:p>
          <a:p>
            <a:pPr>
              <a:buSzPts val="1600"/>
            </a:pPr>
            <a:endParaRPr lang="en" sz="1600" b="1" dirty="0">
              <a:solidFill>
                <a:schemeClr val="lt1"/>
              </a:solidFill>
              <a:latin typeface="Titillium Web"/>
              <a:ea typeface="Titillium Web"/>
              <a:cs typeface="Titillium Web"/>
            </a:endParaRPr>
          </a:p>
        </p:txBody>
      </p:sp>
      <p:pic>
        <p:nvPicPr>
          <p:cNvPr id="61" name="Google Shape;61;p10" title="0048_FIH_Logo-White.png">
            <a:extLst>
              <a:ext uri="{FF2B5EF4-FFF2-40B4-BE49-F238E27FC236}">
                <a16:creationId xmlns:a16="http://schemas.microsoft.com/office/drawing/2014/main" id="{65FD84DB-313A-7549-25AB-49AF80F869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165125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E4C82D90-5472-7CC3-9480-EAC161DF3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>
            <a:extLst>
              <a:ext uri="{FF2B5EF4-FFF2-40B4-BE49-F238E27FC236}">
                <a16:creationId xmlns:a16="http://schemas.microsoft.com/office/drawing/2014/main" id="{CBBBB37F-FFEA-C6D8-8F63-321FAF784274}"/>
              </a:ext>
            </a:extLst>
          </p:cNvPr>
          <p:cNvSpPr txBox="1"/>
          <p:nvPr/>
        </p:nvSpPr>
        <p:spPr>
          <a:xfrm>
            <a:off x="606686" y="792328"/>
            <a:ext cx="6961328" cy="355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bg1"/>
              </a:buClr>
            </a:pPr>
            <a:endParaRPr lang="en" sz="1600" dirty="0">
              <a:solidFill>
                <a:schemeClr val="lt1"/>
              </a:solidFill>
            </a:endParaRPr>
          </a:p>
          <a:p>
            <a:pPr>
              <a:buClr>
                <a:schemeClr val="bg1"/>
              </a:buClr>
            </a:pPr>
            <a:r>
              <a:rPr lang="en" sz="1600" b="1" dirty="0">
                <a:solidFill>
                  <a:schemeClr val="lt1"/>
                </a:solidFill>
              </a:rPr>
              <a:t>What Makes Us Different?</a:t>
            </a:r>
          </a:p>
          <a:p>
            <a:pPr>
              <a:buClr>
                <a:schemeClr val="bg1"/>
              </a:buClr>
            </a:pPr>
            <a:endParaRPr lang="en" dirty="0"/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lt1"/>
                </a:solidFill>
              </a:rPr>
              <a:t>Usage-based billing powered by open payments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lt1"/>
                </a:solidFill>
              </a:rPr>
              <a:t>Real-time payment settlement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lt1"/>
                </a:solidFill>
              </a:rPr>
              <a:t>Supports multiple billing models </a:t>
            </a:r>
            <a:endParaRPr lang="en" dirty="0"/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lt1"/>
                </a:solidFill>
              </a:rPr>
              <a:t>QR-code physical access control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lt1"/>
                </a:solidFill>
              </a:rPr>
              <a:t>Fair and transparent payment structure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lt1"/>
                </a:solidFill>
              </a:rPr>
              <a:t>Designed for financial inclusion </a:t>
            </a:r>
          </a:p>
        </p:txBody>
      </p:sp>
      <p:pic>
        <p:nvPicPr>
          <p:cNvPr id="61" name="Google Shape;61;p10" title="0048_FIH_Logo-White.png">
            <a:extLst>
              <a:ext uri="{FF2B5EF4-FFF2-40B4-BE49-F238E27FC236}">
                <a16:creationId xmlns:a16="http://schemas.microsoft.com/office/drawing/2014/main" id="{C7E11518-8A8C-4CA0-FF8A-E0AC866622C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8353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lang="en" sz="3900" b="1" i="0" u="none" strike="noStrike" cap="none">
                <a:solidFill>
                  <a:schemeClr val="accent6"/>
                </a:solidFill>
                <a:latin typeface="Titillium Web"/>
                <a:ea typeface="Titillium Web"/>
                <a:cs typeface="Titillium Web"/>
                <a:sym typeface="Titillium Web"/>
              </a:rPr>
              <a:t>Demo</a:t>
            </a:r>
            <a:endParaRPr sz="5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" name="Google Shape;68;p11"/>
          <p:cNvCxnSpPr/>
          <p:nvPr/>
        </p:nvCxnSpPr>
        <p:spPr>
          <a:xfrm>
            <a:off x="510576" y="1985056"/>
            <a:ext cx="54561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69" name="Google Shape;69;p11" title="0048_FIH_Logo-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lang="en" sz="3900" b="1" i="0" u="none" strike="noStrike" cap="none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Conclusion</a:t>
            </a:r>
            <a:endParaRPr sz="500" b="0" i="0" u="none" strike="noStrike" cap="none">
              <a:solidFill>
                <a:srgbClr val="00E2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2"/>
          <p:cNvSpPr txBox="1"/>
          <p:nvPr/>
        </p:nvSpPr>
        <p:spPr>
          <a:xfrm>
            <a:off x="510564" y="2038590"/>
            <a:ext cx="7728685" cy="239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bg1"/>
              </a:buClr>
            </a:pPr>
            <a:endParaRPr lang="en" sz="1600" dirty="0">
              <a:solidFill>
                <a:schemeClr val="lt1"/>
              </a:solidFill>
            </a:endParaRPr>
          </a:p>
          <a:p>
            <a:pPr>
              <a:buClr>
                <a:schemeClr val="bg1"/>
              </a:buClr>
            </a:pPr>
            <a:r>
              <a:rPr lang="en" sz="1600" dirty="0">
                <a:solidFill>
                  <a:schemeClr val="lt1"/>
                </a:solidFill>
              </a:rPr>
              <a:t>PavelPayments transforms subscriptions into fair, flexible, and inclusive payment experiences.</a:t>
            </a:r>
          </a:p>
          <a:p>
            <a:endParaRPr lang="en" sz="1600" b="1" dirty="0">
              <a:solidFill>
                <a:schemeClr val="lt1"/>
              </a:solidFill>
            </a:endParaRPr>
          </a:p>
          <a:p>
            <a:pPr marL="127000">
              <a:buSzPts val="1600"/>
            </a:pPr>
            <a:endParaRPr lang="en" sz="1600" dirty="0">
              <a:solidFill>
                <a:schemeClr val="lt1"/>
              </a:solidFill>
              <a:latin typeface="Libre Franklin"/>
            </a:endParaRPr>
          </a:p>
        </p:txBody>
      </p:sp>
      <p:cxnSp>
        <p:nvCxnSpPr>
          <p:cNvPr id="76" name="Google Shape;76;p12"/>
          <p:cNvCxnSpPr/>
          <p:nvPr/>
        </p:nvCxnSpPr>
        <p:spPr>
          <a:xfrm>
            <a:off x="510576" y="1985056"/>
            <a:ext cx="5456100" cy="0"/>
          </a:xfrm>
          <a:prstGeom prst="straightConnector1">
            <a:avLst/>
          </a:prstGeom>
          <a:noFill/>
          <a:ln w="9525" cap="flat" cmpd="sng">
            <a:solidFill>
              <a:srgbClr val="00E296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77" name="Google Shape;77;p12" title="0048_FIH_Logo-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/>
        </p:nvSpPr>
        <p:spPr>
          <a:xfrm>
            <a:off x="405300" y="2187725"/>
            <a:ext cx="8260500" cy="19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Thank you.</a:t>
            </a:r>
            <a:endParaRPr sz="3000" b="0" i="0" u="none" strike="noStrike" cap="non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83" name="Google Shape;83;p13" title="0048_FIH_Logo-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nterledg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151</Words>
  <Application>Microsoft Office PowerPoint</Application>
  <PresentationFormat>On-screen Show (16:9)</PresentationFormat>
  <Paragraphs>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Titillium Web</vt:lpstr>
      <vt:lpstr>Helvetica Neue</vt:lpstr>
      <vt:lpstr>Titillium Web SemiBold</vt:lpstr>
      <vt:lpstr>Arial</vt:lpstr>
      <vt:lpstr>Titillium Web Light</vt:lpstr>
      <vt:lpstr>Libre Franklin</vt:lpstr>
      <vt:lpstr>Interledger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P0llen Jay</dc:creator>
  <cp:lastModifiedBy>VHUTALI TSANWANI</cp:lastModifiedBy>
  <cp:revision>293</cp:revision>
  <dcterms:modified xsi:type="dcterms:W3CDTF">2026-06-27T13:01:58Z</dcterms:modified>
</cp:coreProperties>
</file>